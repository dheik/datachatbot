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369e684-c7df-e187-244d-e5dc01e46f72}">
          <p14:sldIdLst>
            <p14:sldId id="256"/>
          </p14:sldIdLst>
        </p14:section>
        <p14:section name="Conceito" id="{6406e07b-65ac-0f50-dcd1-9722452b8225}">
          <p14:sldIdLst>
            <p14:sldId id="257"/>
            <p14:sldId id="258"/>
          </p14:sldIdLst>
        </p14:section>
        <p14:section name="Arquitetura" id="{e6ed9ea8-679c-2234-36f6-b0c674a4c717}">
          <p14:sldIdLst>
            <p14:sldId id="259"/>
            <p14:sldId id="260"/>
          </p14:sldIdLst>
        </p14:section>
        <p14:section name="Integração Gemini" id="{67d00d54-2273-c464-3a04-496449d0ff57}">
          <p14:sldIdLst>
            <p14:sldId id="261"/>
            <p14:sldId id="262"/>
          </p14:sldIdLst>
        </p14:section>
        <p14:section name="Regras e validações" id="{8b44c9fc-95de-8385-473f-4df58d461e67}">
          <p14:sldIdLst>
            <p14:sldId id="263"/>
            <p14:sldId id="264"/>
          </p14:sldIdLst>
        </p14:section>
        <p14:section name="Demonstração" id="{3598d90e-6f6c-0335-fe48-595fb6d3a83b}">
          <p14:sldIdLst>
            <p14:sldId id="265"/>
            <p14:sldId id="266"/>
            <p14:sldId id="267"/>
          </p14:sldIdLst>
        </p14:section>
        <p14:section name="Conclusão" id="{65e8f5e3-ad60-9e93-45e5-1054b23dca7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DataDex: um chatbot de Pokémon em que a IA não responde de memória. Ela escreve uma consulta SQL, a API executa no banco e os cards mostram exatamente o que o banco devolveu.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que o produto resolve: modelos de linguagem alucinam. A solução é limitar o papel da IA a escrever a consulta; quem responde é 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do ponto de vista do usuário. Na tela inicial há perguntas de exemplo para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camadas. O app nunca fala com o Gemini diretamente: a chave fica no backend. O Gemini nunca vê o banco inteiro, só o esquema. O banco é aberto em modo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 backend/app/llm.py faz a chamada com o SDK google-genai. O prompt fica em backend/app/prompts.py. Se o modelo principal falhar, a API tenta o modelo reserva configurado em GEMINI_MODELS.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que o prompt ensina o modelo a considerar os dois tipos (type1 e type2), a usar a região da forma regional e a excluir megas por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Ficam em backend/app/services.py (regras) e backend/app/database.py (segurança do SQL). Todas têm teste automatizado em backend/tests/test_api.py.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74980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ns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17320" y="59436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09928" y="59436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2536" y="59436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50876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DataDex: uma Pokédex que responde em português sem inventar nada</a:t>
            </a:r>
            <a:endParaRPr lang="en-US" sz="36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Produto com API própria, React Native e integração à API do Gemini (texto → SQL)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4B8"/>
                </a:solidFill>
              </a:rPr>
              <a:t>Criação de um Produto com Integração à API Gemini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Uma IA sozinha pode inventar respostas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BE9EC"/>
          </a:solidFill>
          <a:ln w="12700">
            <a:solidFill>
              <a:srgbClr val="FBE9EC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709160" y="12801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Pergunta: "Qual o Pokémon de fogo mais forte de Alola?" Só um dos dois caminhos garante que a resposta existe no banco.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sozinha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Responde de memória, com dados de treino possivelmente desatualizados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Pode inventar Pokémon, status ou habilidades (alucinação)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Não mostra de onde veio a resposta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DataDex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65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IA só traduz a pergunta em uma consulta 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resposta vem do banco com os dados oficiais da PokéAPI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usuário pode ver a consulta usada e conferir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Você pergunta e a Pokédex mostra os cards</a:t>
            </a:r>
            <a:endParaRPr lang="en-US" sz="2600" dirty="0"/>
          </a:p>
        </p:txBody>
      </p:sp>
      <p:pic>
        <p:nvPicPr>
          <p:cNvPr id="3" name="Image 0" descr="/tmp/claude-0/-home-claude/ef9b5c32-6d03-5a0e-86e5-33439b37f361/scratchpad/deck/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4480560" cy="293522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4" name="lens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161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em português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27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"Qual o Pokémon de fogo com os status base mais altos de Alola?"</a:t>
            </a:r>
            <a:endParaRPr lang="en-US" sz="1300" dirty="0"/>
          </a:p>
        </p:txBody>
      </p:sp>
      <p:sp>
        <p:nvSpPr>
          <p:cNvPr id="8" name="lens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240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escreve a consulta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5117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 Gemini traduz a pergunta em SQL sobre o banco de 1.323 Pokémon e formas</a:t>
            </a:r>
            <a:endParaRPr lang="en-US" sz="1300" dirty="0"/>
          </a:p>
        </p:txBody>
      </p:sp>
      <p:sp>
        <p:nvSpPr>
          <p:cNvPr id="12" name="lens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264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responde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5753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Cards com sprite, tipos e status base, e a consulta visível para conferência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Arquitetura: app, API, Gemini e banco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210312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React Native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Expo (web, Android e iOS)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Chat, cards e detalhes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Mostra o SQL usado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22860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DataDex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Python + FastAPI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Validações e regras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Execução segura do 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Cache, limite e histórico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18872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Gemini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Gera o SQL (JSON)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Resume os resultados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60604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SQLite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108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Dados oficiais da PokéAPI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Somente leitura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468880"/>
            <a:ext cx="7772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760720" y="1783080"/>
            <a:ext cx="77724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2788920"/>
            <a:ext cx="777240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06040" y="2606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HTTP /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POST /api/ask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build_db.py baixa os CSVs da PokéAPI e gera o banco uma única vez; em tempo de execução a API só lê.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Tecnologias escolhidas e por quê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ens"/>
          <p:cNvSpPr/>
          <p:nvPr/>
        </p:nvSpPr>
        <p:spPr>
          <a:xfrm>
            <a:off x="640080" y="1435608"/>
            <a:ext cx="420624" cy="420624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9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Um código para web, Android e iOS; exportado para web com expo export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ns"/>
          <p:cNvSpPr/>
          <p:nvPr/>
        </p:nvSpPr>
        <p:spPr>
          <a:xfrm>
            <a:off x="4846320" y="1435608"/>
            <a:ext cx="420624" cy="42062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316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609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API REST tipada com Pydantic e documentação automática em /docs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ns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414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(google-genai)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06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Saída em JSON, temperatura 0 e troca automática de modelo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ns"/>
          <p:cNvSpPr/>
          <p:nvPr/>
        </p:nvSpPr>
        <p:spPr>
          <a:xfrm>
            <a:off x="4846320" y="2532888"/>
            <a:ext cx="420624" cy="420624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2414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706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Banco em arquivo único: fácil de distribuir e abrir em somente leitura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lens"/>
          <p:cNvSpPr/>
          <p:nvPr/>
        </p:nvSpPr>
        <p:spPr>
          <a:xfrm>
            <a:off x="640080" y="3630168"/>
            <a:ext cx="420624" cy="42062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03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Fonte oficial e aberta: tipos, status, regiões, formas e habilidades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lens"/>
          <p:cNvSpPr/>
          <p:nvPr/>
        </p:nvSpPr>
        <p:spPr>
          <a:xfrm>
            <a:off x="4846320" y="3630168"/>
            <a:ext cx="420624" cy="420624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8039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17 testes com um Gemini falso: rodam sem internet e sem gastar cota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Como a API usa o Gemini em cada pergunta</a:t>
            </a:r>
            <a:endParaRPr lang="en-US" sz="2600" dirty="0"/>
          </a:p>
        </p:txBody>
      </p:sp>
      <p:sp>
        <p:nvSpPr>
          <p:cNvPr id="3" name="lens"/>
          <p:cNvSpPr/>
          <p:nvPr/>
        </p:nvSpPr>
        <p:spPr>
          <a:xfrm>
            <a:off x="960120" y="13258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00200" y="1600200"/>
            <a:ext cx="9601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Esquema real do banco, traduções (fogo = fire) e regras</a:t>
            </a:r>
            <a:endParaRPr lang="en-US" sz="1200" dirty="0"/>
          </a:p>
        </p:txBody>
      </p:sp>
      <p:sp>
        <p:nvSpPr>
          <p:cNvPr id="8" name="lens"/>
          <p:cNvSpPr/>
          <p:nvPr/>
        </p:nvSpPr>
        <p:spPr>
          <a:xfrm>
            <a:off x="2642616" y="132588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4261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82696" y="1600200"/>
            <a:ext cx="9601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139696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→ JSON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423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{answerable, sql, explanation} com temperatura 0</a:t>
            </a:r>
            <a:endParaRPr lang="en-US" sz="1200" dirty="0"/>
          </a:p>
        </p:txBody>
      </p:sp>
      <p:sp>
        <p:nvSpPr>
          <p:cNvPr id="13" name="lens"/>
          <p:cNvSpPr/>
          <p:nvPr/>
        </p:nvSpPr>
        <p:spPr>
          <a:xfrm>
            <a:off x="4325112" y="13258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251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5192" y="1600200"/>
            <a:ext cx="9601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822192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423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Só um SELECT, banco somente leitura, tabelas permitidas</a:t>
            </a:r>
            <a:endParaRPr lang="en-US" sz="1200" dirty="0"/>
          </a:p>
        </p:txBody>
      </p:sp>
      <p:sp>
        <p:nvSpPr>
          <p:cNvPr id="18" name="lens"/>
          <p:cNvSpPr/>
          <p:nvPr/>
        </p:nvSpPr>
        <p:spPr>
          <a:xfrm>
            <a:off x="6007608" y="132588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0760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47688" y="1600200"/>
            <a:ext cx="9601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504688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04688" y="2423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 der erro, o Gemini corrige o SQL uma vez</a:t>
            </a:r>
            <a:endParaRPr lang="en-US" sz="1200" dirty="0"/>
          </a:p>
        </p:txBody>
      </p:sp>
      <p:sp>
        <p:nvSpPr>
          <p:cNvPr id="23" name="lens"/>
          <p:cNvSpPr/>
          <p:nvPr/>
        </p:nvSpPr>
        <p:spPr>
          <a:xfrm>
            <a:off x="7690104" y="132588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9010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87184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24231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 Gemini escreve 1 a 3 frases usando só as linhas retornadas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8F3FD"/>
          </a:solidFill>
          <a:ln w="12700">
            <a:solidFill>
              <a:srgbClr val="E8F3F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5387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duas chamadas ao Gemini (passos 2 e 5) são as únicas: a resposta nunca usa o conhecimento interno do modelo, só o que o banco devolveu.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 pergunta à consulta: o que o Gemini devolve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 o Pokémon de fogo com os status base mais altos da região de Alola?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"answerable":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"sql": "SELECT p.id, p.name, p.total FROM pokemon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WHERE (p.type1 = 'fire' OR p.type2 = 'fire') AND p.region = 'alola'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p.form_category NOT IN ('mega','gigantamax')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ORDER BY p.total DESC LIMIT 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"explanation": "Pokémon de fogo de Alola ordenados pelo total de status base" }</a:t>
            </a:r>
            <a:endParaRPr lang="en-US" sz="1200" dirty="0"/>
          </a:p>
        </p:txBody>
      </p:sp>
      <p:sp>
        <p:nvSpPr>
          <p:cNvPr id="7" name="lens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 do banco: Blacephalon (Fogo/Fantasma), total 570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Regras de negócio e validações da API</a:t>
            </a:r>
            <a:endParaRPr lang="en-US" sz="2600" dirty="0"/>
          </a:p>
        </p:txBody>
      </p:sp>
      <p:sp>
        <p:nvSpPr>
          <p:cNvPr id="3" name="lens"/>
          <p:cNvSpPr/>
          <p:nvPr/>
        </p:nvSpPr>
        <p:spPr>
          <a:xfrm>
            <a:off x="457200" y="1216152"/>
            <a:ext cx="347472" cy="3474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 3 a 300 caracteres, com texto; espaços normalizados</a:t>
            </a:r>
            <a:endParaRPr lang="en-US" sz="1200" dirty="0"/>
          </a:p>
        </p:txBody>
      </p:sp>
      <p:sp>
        <p:nvSpPr>
          <p:cNvPr id="6" name="lens"/>
          <p:cNvSpPr/>
          <p:nvPr/>
        </p:nvSpPr>
        <p:spPr>
          <a:xfrm>
            <a:off x="4663440" y="1216152"/>
            <a:ext cx="347472" cy="3474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636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tema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 Gemini marca answerable = false e a API responde 422</a:t>
            </a:r>
            <a:endParaRPr lang="en-US" sz="1200" dirty="0"/>
          </a:p>
        </p:txBody>
      </p:sp>
      <p:sp>
        <p:nvSpPr>
          <p:cNvPr id="9" name="lens"/>
          <p:cNvSpPr/>
          <p:nvPr/>
        </p:nvSpPr>
        <p:spPr>
          <a:xfrm>
            <a:off x="457200" y="2084832"/>
            <a:ext cx="347472" cy="3474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seguro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Uma instrução SELECT, conexão somente leitura, authorizer e tempo limite de 2 s</a:t>
            </a:r>
            <a:endParaRPr lang="en-US" sz="1200" dirty="0"/>
          </a:p>
        </p:txBody>
      </p:sp>
      <p:sp>
        <p:nvSpPr>
          <p:cNvPr id="12" name="lens"/>
          <p:cNvSpPr/>
          <p:nvPr/>
        </p:nvSpPr>
        <p:spPr>
          <a:xfrm>
            <a:off x="4663440" y="2084832"/>
            <a:ext cx="347472" cy="3474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 resultados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máximo 50 linhas por resposta, com aviso de truncamento</a:t>
            </a:r>
            <a:endParaRPr lang="en-US" sz="1200" dirty="0"/>
          </a:p>
        </p:txBody>
      </p:sp>
      <p:sp>
        <p:nvSpPr>
          <p:cNvPr id="15" name="lens"/>
          <p:cNvSpPr/>
          <p:nvPr/>
        </p:nvSpPr>
        <p:spPr>
          <a:xfrm>
            <a:off x="457200" y="2953512"/>
            <a:ext cx="347472" cy="3474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especiais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Megas e Gigantamax ficam de fora, a não ser que o usuário peça</a:t>
            </a:r>
            <a:endParaRPr lang="en-US" sz="1200" dirty="0"/>
          </a:p>
        </p:txBody>
      </p:sp>
      <p:sp>
        <p:nvSpPr>
          <p:cNvPr id="18" name="lens"/>
          <p:cNvSpPr/>
          <p:nvPr/>
        </p:nvSpPr>
        <p:spPr>
          <a:xfrm>
            <a:off x="4663440" y="2953512"/>
            <a:ext cx="347472" cy="3474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 contexto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Pergunta repetida volta do cache; "e os de água?" usa o histórico</a:t>
            </a:r>
            <a:endParaRPr lang="en-US" sz="1200" dirty="0"/>
          </a:p>
        </p:txBody>
      </p:sp>
      <p:sp>
        <p:nvSpPr>
          <p:cNvPr id="21" name="lens"/>
          <p:cNvSpPr/>
          <p:nvPr/>
        </p:nvSpPr>
        <p:spPr>
          <a:xfrm>
            <a:off x="457200" y="3822192"/>
            <a:ext cx="347472" cy="34747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 uso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023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 perguntas por minuto por IP (HTTP 429)</a:t>
            </a:r>
            <a:endParaRPr lang="en-US" sz="1200" dirty="0"/>
          </a:p>
        </p:txBody>
      </p:sp>
      <p:sp>
        <p:nvSpPr>
          <p:cNvPr id="24" name="lens"/>
          <p:cNvSpPr/>
          <p:nvPr/>
        </p:nvSpPr>
        <p:spPr>
          <a:xfrm>
            <a:off x="4663440" y="3822192"/>
            <a:ext cx="347472" cy="347472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padronizados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{ error: { code, message } } com mensagem clara para o app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Cinco camadas protegem o banco do SQL da 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1.323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Pokémon e formas no banco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camadas de proteção do SQL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testes automatizados passando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80360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Validação de texto: uma única instrução, começando por SELECT ou WITH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Conexão SQLite aberta com mode=ro (somente leitura)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Authorizer: só leitura das tabelas pokemon e pokemon_abilities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Tempo limite: consultas acima de 2 s são canceladas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SQL bloqueado não é reenviado ao Gemini: falha na hora com HTTP 400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Demonstração: a pergunta do enunciado</a:t>
            </a:r>
            <a:endParaRPr lang="en-US" sz="2600" dirty="0"/>
          </a:p>
        </p:txBody>
      </p:sp>
      <p:pic>
        <p:nvPicPr>
          <p:cNvPr id="3" name="Image 0" descr="/tmp/claude-0/-home-claude/ef9b5c32-6d03-5a0e-86e5-33439b37f361/scratchpad/deck/al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608576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4068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aparece na tela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40680" y="160020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Resumo escrito pelo Gemini a partir das linhas retornadas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Card do Blacephalon com tipos e os seis status 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"Ver a consulta usada" mostra o SQL e o modelo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Tocar no card abre a ficha completa com habilidades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Vários resultados viram uma grade ordenada</a:t>
            </a:r>
            <a:endParaRPr lang="en-US" sz="2600" dirty="0"/>
          </a:p>
        </p:txBody>
      </p:sp>
      <p:pic>
        <p:nvPicPr>
          <p:cNvPr id="3" name="Image 0" descr="/tmp/claude-0/-home-claude/ef9b5c32-6d03-5a0e-86e5-33439b37f361/scratchpad/deck/f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657600" cy="37490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480560" y="1188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"Quais os 5 Pokémon mais rápidos que não são lendários?"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19202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número no card é a posição no resultado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Formas regionais entram quando atendem ao critério (Hisuian Electrode)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Perguntas de contagem ("quantos...") viram tabela em vez de cards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No celular: tabela, erro e ficha detalhada</a:t>
            </a:r>
            <a:endParaRPr lang="en-US" sz="2600" dirty="0"/>
          </a:p>
        </p:txBody>
      </p:sp>
      <p:pic>
        <p:nvPicPr>
          <p:cNvPr id="3" name="Image 0" descr="/tmp/claude-0/-home-claude/ef9b5c32-6d03-5a0e-86e5-33439b37f361/scratchpad/deck/mobile_3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1499984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204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Contagem por tipo</a:t>
            </a:r>
            <a:endParaRPr lang="en-US" sz="1200" dirty="0"/>
          </a:p>
        </p:txBody>
      </p:sp>
      <p:pic>
        <p:nvPicPr>
          <p:cNvPr id="5" name="Image 1" descr="/tmp/claude-0/-home-claude/ef9b5c32-6d03-5a0e-86e5-33439b37f361/scratchpad/deck/mobile_4_e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097280"/>
            <a:ext cx="1499984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3246120" y="4434840"/>
            <a:ext cx="204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Pergunta fora do tema</a:t>
            </a:r>
            <a:endParaRPr lang="en-US" sz="1200" dirty="0"/>
          </a:p>
        </p:txBody>
      </p:sp>
      <p:pic>
        <p:nvPicPr>
          <p:cNvPr id="7" name="Image 2" descr="/tmp/claude-0/-home-claude/ef9b5c32-6d03-5a0e-86e5-33439b37f361/scratchpad/deck/mobile_5_mo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1499984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A223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5943600" y="4434840"/>
            <a:ext cx="204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Ficha do Pokémon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ns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IA escreve a pergunta para o banco; o banco dá a resposta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Próximos passos: gráficos comparativos, cadeia de evolução, fraquezas por tipo e deploy da API na nuvem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Dex">
  <a:themeElements>
    <a:clrScheme name="DataDex">
      <a:dk1>
        <a:srgbClr val="1A2230"/>
      </a:dk1>
      <a:lt1>
        <a:srgbClr val="FFFFFF"/>
      </a:lt1>
      <a:dk2>
        <a:srgbClr val="1F2B3A"/>
      </a:dk2>
      <a:lt2>
        <a:srgbClr val="EEF1F4"/>
      </a:lt2>
      <a:accent1>
        <a:srgbClr val="C8102E"/>
      </a:accent1>
      <a:accent2>
        <a:srgbClr val="3FA9F5"/>
      </a:accent2>
      <a:accent3>
        <a:srgbClr val="FAC000"/>
      </a:accent3>
      <a:accent4>
        <a:srgbClr val="3FA129"/>
      </a:accent4>
      <a:accent5>
        <a:srgbClr val="5B6676"/>
      </a:accent5>
      <a:accent6>
        <a:srgbClr val="E62829"/>
      </a:accent6>
      <a:hlink>
        <a:srgbClr val="2980EF"/>
      </a:hlink>
      <a:folHlink>
        <a:srgbClr val="704170"/>
      </a:folHlink>
    </a:clrScheme>
    <a:fontScheme name="DataDe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DataDex — Integração com a API Gemini</dc:title>
  <dc:subject>PptxGenJS Presentation</dc:subject>
  <dc:creator>DataDex</dc:creator>
  <cp:lastModifiedBy>DataDex</cp:lastModifiedBy>
  <cp:revision>1</cp:revision>
  <dcterms:created xsi:type="dcterms:W3CDTF">2026-10-05T23:17:41Z</dcterms:created>
  <dcterms:modified xsi:type="dcterms:W3CDTF">2026-10-05T23:17:41Z</dcterms:modified>
</cp:coreProperties>
</file>